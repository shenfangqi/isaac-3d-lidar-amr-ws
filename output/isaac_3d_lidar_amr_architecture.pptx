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94c1eb6d04c02" /><Relationship Type="http://schemas.openxmlformats.org/officeDocument/2006/relationships/extended-properties" Target="/docProps/app.xml" Id="R5a2ac57f0fbf41f0" /><Relationship Type="http://schemas.openxmlformats.org/officeDocument/2006/relationships/officeDocument" Target="/ppt/presentation.xml" Id="R2fc705d3ea6549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400651824d4fd2"/>
  </p:sldMasterIdLst>
  <p:notesMasterIdLst>
    <p:notesMasterId xmlns:r="http://schemas.openxmlformats.org/officeDocument/2006/relationships" r:id="Rdc2530be0bda46bd"/>
  </p:notesMasterIdLst>
  <p:sldIdLst>
    <p:sldId xmlns:r="http://schemas.openxmlformats.org/officeDocument/2006/relationships" id="256" r:id="R6cec23a1fd774a94"/>
    <p:sldId xmlns:r="http://schemas.openxmlformats.org/officeDocument/2006/relationships" id="257" r:id="R0b4713afc5ff4744"/>
    <p:sldId xmlns:r="http://schemas.openxmlformats.org/officeDocument/2006/relationships" id="258" r:id="R343cd44776f24a74"/>
    <p:sldId xmlns:r="http://schemas.openxmlformats.org/officeDocument/2006/relationships" id="259" r:id="Rc83c4e333b734413"/>
    <p:sldId xmlns:r="http://schemas.openxmlformats.org/officeDocument/2006/relationships" id="260" r:id="R948e129e5f144f98"/>
    <p:sldId xmlns:r="http://schemas.openxmlformats.org/officeDocument/2006/relationships" id="261" r:id="Rf57222e2295e4aa5"/>
    <p:sldId xmlns:r="http://schemas.openxmlformats.org/officeDocument/2006/relationships" id="262" r:id="R7ec8fb218d024393"/>
    <p:sldId xmlns:r="http://schemas.openxmlformats.org/officeDocument/2006/relationships" id="263" r:id="R2f330bd2e5124c13"/>
    <p:sldId xmlns:r="http://schemas.openxmlformats.org/officeDocument/2006/relationships" id="264" r:id="R54e18fa7b657464a"/>
    <p:sldId xmlns:r="http://schemas.openxmlformats.org/officeDocument/2006/relationships" id="265" r:id="R334b1c51067748ab"/>
    <p:sldId xmlns:r="http://schemas.openxmlformats.org/officeDocument/2006/relationships" id="266" r:id="R4934f91eca1c4d87"/>
    <p:sldId xmlns:r="http://schemas.openxmlformats.org/officeDocument/2006/relationships" id="267" r:id="R37dc9191aabd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2b29a54034077" /><Relationship Type="http://schemas.openxmlformats.org/officeDocument/2006/relationships/slideMaster" Target="/ppt/slideMasters/slideMaster1.xml" Id="Ra5400651824d4fd2" /><Relationship Type="http://schemas.openxmlformats.org/officeDocument/2006/relationships/notesMaster" Target="/ppt/notesMasters/notesMaster1.xml" Id="Rdc2530be0bda46bd" /><Relationship Type="http://schemas.openxmlformats.org/officeDocument/2006/relationships/presProps" Target="/ppt/presProps.xml" Id="R40fa900e33cc452a" /><Relationship Type="http://schemas.openxmlformats.org/officeDocument/2006/relationships/tableStyles" Target="/ppt/tableStyles.xml" Id="R37720a5a5691415e" /><Relationship Type="http://schemas.openxmlformats.org/officeDocument/2006/relationships/slide" Target="/ppt/slides/slide1.xml" Id="R6cec23a1fd774a94" /><Relationship Type="http://schemas.openxmlformats.org/officeDocument/2006/relationships/slide" Target="/ppt/slides/slide2.xml" Id="R0b4713afc5ff4744" /><Relationship Type="http://schemas.openxmlformats.org/officeDocument/2006/relationships/slide" Target="/ppt/slides/slide3.xml" Id="R343cd44776f24a74" /><Relationship Type="http://schemas.openxmlformats.org/officeDocument/2006/relationships/slide" Target="/ppt/slides/slide4.xml" Id="Rc83c4e333b734413" /><Relationship Type="http://schemas.openxmlformats.org/officeDocument/2006/relationships/slide" Target="/ppt/slides/slide5.xml" Id="R948e129e5f144f98" /><Relationship Type="http://schemas.openxmlformats.org/officeDocument/2006/relationships/slide" Target="/ppt/slides/slide6.xml" Id="Rf57222e2295e4aa5" /><Relationship Type="http://schemas.openxmlformats.org/officeDocument/2006/relationships/slide" Target="/ppt/slides/slide7.xml" Id="R7ec8fb218d024393" /><Relationship Type="http://schemas.openxmlformats.org/officeDocument/2006/relationships/slide" Target="/ppt/slides/slide8.xml" Id="R2f330bd2e5124c13" /><Relationship Type="http://schemas.openxmlformats.org/officeDocument/2006/relationships/slide" Target="/ppt/slides/slide9.xml" Id="R54e18fa7b657464a" /><Relationship Type="http://schemas.openxmlformats.org/officeDocument/2006/relationships/slide" Target="/ppt/slides/slide10.xml" Id="R334b1c51067748ab" /><Relationship Type="http://schemas.openxmlformats.org/officeDocument/2006/relationships/slide" Target="/ppt/slides/slide11.xml" Id="R4934f91eca1c4d87" /><Relationship Type="http://schemas.openxmlformats.org/officeDocument/2006/relationships/slide" Target="/ppt/slides/slide12.xml" Id="R37dc9191aabd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0600cfd470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47c94e4ae4833" /><Relationship Type="http://schemas.openxmlformats.org/officeDocument/2006/relationships/notesMaster" Target="/ppt/notesMasters/notesMaster1.xml" Id="R8f753106647e4d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144edb65a45ec" /><Relationship Type="http://schemas.openxmlformats.org/officeDocument/2006/relationships/notesMaster" Target="/ppt/notesMasters/notesMaster1.xml" Id="Rad65df8e9679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bf098503b4457" /><Relationship Type="http://schemas.openxmlformats.org/officeDocument/2006/relationships/notesMaster" Target="/ppt/notesMasters/notesMaster1.xml" Id="Rccaab39878dc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5f1913ef5241c2" /><Relationship Type="http://schemas.openxmlformats.org/officeDocument/2006/relationships/notesMaster" Target="/ppt/notesMasters/notesMaster1.xml" Id="R2547e555b6cd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2eb71c8dc44da0" /><Relationship Type="http://schemas.openxmlformats.org/officeDocument/2006/relationships/notesMaster" Target="/ppt/notesMasters/notesMaster1.xml" Id="R283bf3bcd6c446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41d4ddf52643a9" /><Relationship Type="http://schemas.openxmlformats.org/officeDocument/2006/relationships/notesMaster" Target="/ppt/notesMasters/notesMaster1.xml" Id="Rd01b7727029040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607e18d7ec47eb" /><Relationship Type="http://schemas.openxmlformats.org/officeDocument/2006/relationships/notesMaster" Target="/ppt/notesMasters/notesMaster1.xml" Id="R7d73edaa6bf8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d11f1c77124a50" /><Relationship Type="http://schemas.openxmlformats.org/officeDocument/2006/relationships/notesMaster" Target="/ppt/notesMasters/notesMaster1.xml" Id="Re6f13e6d7b524f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812631a4a542c1" /><Relationship Type="http://schemas.openxmlformats.org/officeDocument/2006/relationships/notesMaster" Target="/ppt/notesMasters/notesMaster1.xml" Id="Rc91f0526642c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3c3b4bdf2f4570" /><Relationship Type="http://schemas.openxmlformats.org/officeDocument/2006/relationships/notesMaster" Target="/ppt/notesMasters/notesMaster1.xml" Id="R42117fd244ec4e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5501cf182447fa" /><Relationship Type="http://schemas.openxmlformats.org/officeDocument/2006/relationships/notesMaster" Target="/ppt/notesMasters/notesMaster1.xml" Id="R106feb419f1740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fd1e1bb3d844d8" /><Relationship Type="http://schemas.openxmlformats.org/officeDocument/2006/relationships/notesMaster" Target="/ppt/notesMasters/notesMaster1.xml" Id="R391d63a4754741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本页标题与范围来自当前仓库。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workspace and current-state.md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../start_nav_all.sh</a:t>
            </a:r>
          </a:p>
          <a:p xmlns:a="http://schemas.openxmlformats.org/drawingml/2006/main">
            <a:r>
              <a:t>- skills/ros-docker-debug/references/container-environments.md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- src/isaac_3d_lidar_bringup/launch/xt32_nvblox.launch.py</a:t>
            </a:r>
          </a:p>
          <a:p xmlns:a="http://schemas.openxmlformats.org/drawingml/2006/main">
            <a:r>
              <a:t>- configs/nav2_params.yaml</a:t>
            </a:r>
          </a:p>
          <a:p xmlns:a="http://schemas.openxmlformats.org/drawingml/2006/main">
            <a:r>
              <a:t>- docs/map_nav/README.md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src/isaac_3d_lidar_bringup/isaac_3d_lidar_bringup/pointcloud_padder.py</a:t>
            </a:r>
          </a:p>
          <a:p xmlns:a="http://schemas.openxmlformats.org/drawingml/2006/main">
            <a:r>
              <a:t>- src/isaac_3d_lidar_bringup/launch/xt32_nvblox.launch.py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launch/nvblox_with_map.launch.py</a:t>
            </a:r>
          </a:p>
          <a:p xmlns:a="http://schemas.openxmlformats.org/drawingml/2006/main">
            <a:r>
              <a:t>- configs/amcl_params.yaml</a:t>
            </a:r>
          </a:p>
          <a:p xmlns:a="http://schemas.openxmlformats.org/drawingml/2006/main">
            <a:r>
              <a:t>- skills/isaac-amr-project-state/references/current-state.md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- configs/amcl_params.yaml</a:t>
            </a:r>
          </a:p>
          <a:p xmlns:a="http://schemas.openxmlformats.org/drawingml/2006/main">
            <a:r>
              <a:t>- src/isaac_3d_lidar_bringup/isaac_3d_lidar_bringup/amcl_pose_initializer.py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configs/nav2_params.yaml</a:t>
            </a:r>
          </a:p>
          <a:p xmlns:a="http://schemas.openxmlformats.org/drawingml/2006/main">
            <a:r>
              <a:t>- src/isaac_3d_lidar_exploration/README.md</a:t>
            </a:r>
          </a:p>
          <a:p xmlns:a="http://schemas.openxmlformats.org/drawingml/2006/main">
            <a:r>
              <a:t>- src/isaac_3d_lidar_exploration/isaac_3d_lidar_exploration/frontier_explorer_node.py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src/isaac_3d_lidar_bringup/launch/xt32_nvblox.launch.py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- configs/nav2_params.yaml</a:t>
            </a:r>
          </a:p>
          <a:p xmlns:a="http://schemas.openxmlformats.org/drawingml/2006/main">
            <a:r>
              <a:t>- ../start_nav_all.sh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skills/ros-docker-debug/references/diagnostics.md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- src/isaac_3d_lidar_exploration/launch/explore_nvblox.launch.py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src/isaac_3d_lidar_bringup/isaac_3d_lidar_bringup/amcl_pose_initializer.py</a:t>
            </a:r>
          </a:p>
          <a:p xmlns:a="http://schemas.openxmlformats.org/drawingml/2006/main">
            <a:r>
              <a:t>- src/isaac_3d_lidar_exploration/isaac_3d_lidar_exploration/frontier_explorer_node.py</a:t>
            </a:r>
          </a:p>
          <a:p xmlns:a="http://schemas.openxmlformats.org/drawingml/2006/main">
            <a:r>
              <a:t>- skills/ros-docker-debug/references/diagnostics.md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../start_nav_all.sh</a:t>
            </a:r>
          </a:p>
          <a:p xmlns:a="http://schemas.openxmlformats.org/drawingml/2006/main">
            <a:r>
              <a:t>- launch/nvblox_with_map.launch.py</a:t>
            </a:r>
          </a:p>
          <a:p xmlns:a="http://schemas.openxmlformats.org/drawingml/2006/main">
            <a:r>
              <a:t>- launch/nav_stack.launch.py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src/isaac_3d_lidar_exploration/README.md</a:t>
            </a:r>
          </a:p>
          <a:p xmlns:a="http://schemas.openxmlformats.org/drawingml/2006/main">
            <a:r>
              <a:t>- src/isaac_3d_lidar_exploration/isaac_3d_lidar_exploration/frontier_explorer_node.py</a:t>
            </a:r>
          </a:p>
          <a:p xmlns:a="http://schemas.openxmlformats.org/drawingml/2006/main">
            <a:r>
              <a:t>- skills/isaac-amr-project-state/references/current-state.md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39c9979e8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1431b97cc4e07" /><Relationship Type="http://schemas.openxmlformats.org/officeDocument/2006/relationships/slideLayout" Target="/ppt/slideLayouts/slideLayout1.xml" Id="R502faedbe73b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faedbe73b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0f07af2614819" /><Relationship Type="http://schemas.openxmlformats.org/officeDocument/2006/relationships/notesSlide" Target="/ppt/notesSlides/notesSlide1.xml" Id="R77ce53093729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540f5904d481f" /><Relationship Type="http://schemas.openxmlformats.org/officeDocument/2006/relationships/notesSlide" Target="/ppt/notesSlides/notesSlide2.xml" Id="Rbaf34ee38ac14a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1e1f2b6bd4f62" /><Relationship Type="http://schemas.openxmlformats.org/officeDocument/2006/relationships/notesSlide" Target="/ppt/notesSlides/notesSlide3.xml" Id="R888f152473c1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f1aa895f4cf1" /><Relationship Type="http://schemas.openxmlformats.org/officeDocument/2006/relationships/notesSlide" Target="/ppt/notesSlides/notesSlide4.xml" Id="Rd27521c493cd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b40712da343f1" /><Relationship Type="http://schemas.openxmlformats.org/officeDocument/2006/relationships/notesSlide" Target="/ppt/notesSlides/notesSlide5.xml" Id="R22d0bc6ebe9c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1b558bbf549e9" /><Relationship Type="http://schemas.openxmlformats.org/officeDocument/2006/relationships/notesSlide" Target="/ppt/notesSlides/notesSlide6.xml" Id="R40dcc34fe96446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85a1636cc4301" /><Relationship Type="http://schemas.openxmlformats.org/officeDocument/2006/relationships/notesSlide" Target="/ppt/notesSlides/notesSlide7.xml" Id="Rb44f5ea90e11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877752f6f47bf" /><Relationship Type="http://schemas.openxmlformats.org/officeDocument/2006/relationships/notesSlide" Target="/ppt/notesSlides/notesSlide8.xml" Id="Rc75884249e214e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5b5d22f0940b9" /><Relationship Type="http://schemas.openxmlformats.org/officeDocument/2006/relationships/notesSlide" Target="/ppt/notesSlides/notesSlide9.xml" Id="R1236bbcd1b76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42da7c83c4c04" /><Relationship Type="http://schemas.openxmlformats.org/officeDocument/2006/relationships/notesSlide" Target="/ppt/notesSlides/notesSlide10.xml" Id="R1f17f3cfd0c14b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fc2a7ecf941a8" /><Relationship Type="http://schemas.openxmlformats.org/officeDocument/2006/relationships/notesSlide" Target="/ppt/notesSlides/notesSlide11.xml" Id="R0b7aa61ba88a43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7413bc46e4edb" /><Relationship Type="http://schemas.openxmlformats.org/officeDocument/2006/relationships/notesSlide" Target="/ppt/notesSlides/notesSlide12.xml" Id="R5687d3a79545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587B6-990F-4D48-A5F7-D3F69A0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5AA9C-2767-450A-8847-F22617F4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ROS 2 / ISAAC SIM / NVBLOX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85EC2-817B-43AD-929B-970030D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 3D LiDAR AMR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项目架构与 Topic 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E0576-A3CE-4B54-BDED-68B8E0C8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386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面向维护、联调与真机迁移的系统视图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F4645-56CA-454F-A0F7-F258C21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warehouse_v3 · ROS 2 Humble · 2026-08-29</a:t>
            </a:r>
          </a:p>
        </p:txBody>
      </p:sp>
    </p:spTree>
    <p:extLst>
      <p:ext uri="{BB962C8B-B14F-4D97-AF65-F5344CB8AC3E}">
        <p14:creationId xmlns:p14="http://schemas.microsoft.com/office/powerpoint/2010/main" val="582473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15D78-D3AE-4920-8B1B-92506CC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01 ·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42EF0-2970-4DEF-9528-16B4A7D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三套容器按职责分层，共享同一个 ROS 2 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536EE-757D-4C75-BC94-3125892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B1A44-E912-4B2D-A69E-BC75D001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6230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CF2DE-9C75-4571-8241-628B6C1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77EDD-2EB2-40E9-A131-5F066232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048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isaac-sim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4033A-322D-46F6-A028-8E3C2041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76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isaac-ros-nvblox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93CC-5323-428D-A844-8C8CDF6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048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ros2-dev-humble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26D23-6B42-4072-98FE-C1ADF29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物理与传感器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CFC50-DE23-417E-B68D-D27D50C3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/clock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/front_3d_lidar/lidar_points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/chassis/odom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/tf · tf_static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订阅 /cmd_vel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A1553-72E1-45CA-9794-B343DBF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GPU 建图与地图加载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76A30-28C5-47D6-9F49-9BFE3A48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285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pointcloud_padder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nvblox_container + nvblox_node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/load_map 服务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static_occupancy_grid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EDB0-01BE-4E80-9DB1-E69F555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定位、规划、控制与 RViz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8EAE-DE3E-4205-A92A-E2007BB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AMCL 或 ground-truth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pointcloud_to_laserscan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Nav2 lifecycle 节点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RViz2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99F13-828E-457B-9DD6-97E0F29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CycloneDDS + ROS_DOMAIN_ID=0 让跨容器 topic、TF、service 与 action 互通</a:t>
            </a:r>
          </a:p>
        </p:txBody>
      </p:sp>
    </p:spTree>
    <p:extLst>
      <p:ext uri="{BB962C8B-B14F-4D97-AF65-F5344CB8AC3E}">
        <p14:creationId xmlns:p14="http://schemas.microsoft.com/office/powerpoint/2010/main" val="350498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7ABDE6-8BF6-49D1-844B-F51BFAC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02 · Topic 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8D53C-F88F-436D-A643-10F677C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核心数据流由三条链组成：点云、里程计、控制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708FA-04F2-4D35-B09D-589D2A4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B315B-59EC-4F60-83BA-0113C9AD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11353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0641-5AD3-43E3-804F-D2B3748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感知 / 建图链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051C9-A376-4EAD-AEE1-4FAC42FC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D56A-36A9-4B21-8269-EC891E4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定位 / TF 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72A0C-2CD5-41CA-B017-BD4CB7B2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1353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DE71F-364C-43C2-AE00-67C9E4F9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导航 / 控制链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C2F26-7B65-4AE3-A1A9-B226E2D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CDA39-48B9-492D-B0C9-E3B4B14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1A3EE-0339-49EB-B2C8-9B19908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5EAD0-EBFE-4A5F-9ED5-C1F5DEC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F4207-28A8-4036-B72A-27C16EC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480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2324F-8726-47A1-87F2-54E5E1AB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348B3-4623-4259-9738-623C107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95ECF-8A8B-4F78-A937-8E2D1B3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480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38EC8-938D-4D10-A14D-FFE195B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530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7A1CD-5081-484B-822F-181F72B8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32AFD-3E34-41BB-9B96-FAA27AD5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96988-B5BF-4833-8EEA-F16FD4C9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4D2E3-5B86-4E15-B5FB-86191A9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562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 LiDAR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/lidar_points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14E43-79DB-412A-B7E9-3B5E3F6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859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padder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→ nvblox cloud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AB169-F94E-4158-8CEB-32A8582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5950"/>
            <a:ext cx="1752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nvblox_node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TSDF / ESDF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43ED0-F1C5-4FA4-9D1E-4F5AF4D1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85950"/>
            <a:ext cx="201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/static_occupancy_grid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DCB00-1C8B-48FA-BBC1-268B5BD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2133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Nav2 / RViz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代价地图与可视化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81658-3871-40E1-9529-3633F82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943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/chassis/odom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4F6AC-9380-4EE9-9D88-834A019E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1962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relay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/odom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B8252C-2D75-4F19-98F5-3691A27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AMCL 或静态 TF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CC257-9DF2-4E99-A26D-AC66282A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1828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 → odom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A47BB-29A4-455C-B20B-7AC7AD5B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0"/>
            <a:ext cx="1314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 → base_link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C4E22-A222-4A14-B25E-7A455E88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RViz / Explorer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/navigate_to_pose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BB08A-C5CF-4113-8145-001F9FA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05350"/>
            <a:ext cx="16573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bt_navigator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FE59A5-EC0C-42FA-BB22-7DDBBB07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05350"/>
            <a:ext cx="1752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planner + controller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4B8223-3AC1-4907-9B4E-2A8F733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1733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velocity_smoother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D8BD5C-CE20-4E88-89DA-3ED65782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5350"/>
            <a:ext cx="2057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/cmd_vel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→ Isaac 底盘</a:t>
            </a:r>
          </a:p>
        </p:txBody>
      </p:sp>
    </p:spTree>
    <p:extLst>
      <p:ext uri="{BB962C8B-B14F-4D97-AF65-F5344CB8AC3E}">
        <p14:creationId xmlns:p14="http://schemas.microsoft.com/office/powerpoint/2010/main" val="188993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BFB89-F39C-45C7-B9AA-A4DD4701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03 · 感知链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B0185-684E-417C-95E2-886665A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同一份 3D 点云分成两路，分别服务建图与避障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23A46-CC85-4E7E-8CF9-61C031D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A8267-AB2E-40CF-979E-ACC61DB8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AC32A-8EF9-494B-8034-8518CA9F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CA5ED-434A-4CD9-9ADE-37F6A0A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70B2-5F94-4724-B9CB-73130B3C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 RTX LiDAR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/front_3d_lidar/lidar_points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7BD0C-B904-4C84-9E62-FBC981BF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228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输入分流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EF55A-2BAF-486D-8102-A13062EE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2381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pointcloud_padder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固定为 1800 × 31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缺失光束填 NaN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84F6D-0426-4B3F-AF1D-310A05C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33550"/>
            <a:ext cx="2228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nvblox_node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TSDF → ESDF → 2D occupancy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订阅 /lidar_points_nvblox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5E45C-03BE-4C5C-A5D2-CDB7984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pointcloud_to_laserscan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base_link 高度 0.10–0.65 m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量程 0.5–20 m · 361 rays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4A83C-EB50-467D-9023-4F5FCAEB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22288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/scan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AMCL + 两层 costmap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E3170-538C-48C7-8670-6C3B5A6F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关键约束：nvblox 不能直接消费 Isaac 的可变长度点云；导航投影又必须排除地面与货架上方结构。</a:t>
            </a:r>
          </a:p>
        </p:txBody>
      </p:sp>
    </p:spTree>
    <p:extLst>
      <p:ext uri="{BB962C8B-B14F-4D97-AF65-F5344CB8AC3E}">
        <p14:creationId xmlns:p14="http://schemas.microsoft.com/office/powerpoint/2010/main" val="645503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6CCB4-7A1C-4A72-A75C-D51F6FF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04 · 地图链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3D783-D277-4C38-B75B-FE912755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3D 地图、实时 OccupancyGrid 与导航静态地图各司其职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854D8-B020-47B3-8000-578F38D1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556B-672D-4664-9D9D-BA01D20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86D53-055A-4807-813A-20CB1871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3D7C5-37E1-4F63-9D90-DACA51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5B2A-6989-4AF7-8F36-23E0AB46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5908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warehouse_v3.nvblx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已保存 3D 地图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48B0-F8F1-4AF8-9A96-A6D7948F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09800"/>
            <a:ext cx="2419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/nvblox_node/</a:t>
            </a:r>
          </a:p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load_map</a:t>
            </a:r>
          </a:p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FilePath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8FCC2-5240-4F18-98DB-63E3509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2400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nvblox_node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重建 ESDF / Mesh / 2D slice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42D8D-9DB5-4114-90FD-A331628B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/nvblox_node/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static_occupancy_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010EF-2401-4C9E-84F1-E9BA1A9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实时建图 / 探索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35797-765E-4A0D-9015-6D362AAA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34480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warehouse_v3.yaml + .pgm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417 × 424 · 0.05 m/cell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5CC42-F126-41D9-881A-DE9A20E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720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EC603-8C11-4217-85A5-D45C64F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86300"/>
            <a:ext cx="1962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map_server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DADE4-5D9E-44E9-AD41-0E7F794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AD61-C99A-4888-87D3-C4611EF3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91050"/>
            <a:ext cx="2247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/map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Reliable + Transient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8F49E-E191-4761-9F44-433A99B7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0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保存地图导航</a:t>
            </a:r>
          </a:p>
        </p:txBody>
      </p:sp>
    </p:spTree>
    <p:extLst>
      <p:ext uri="{BB962C8B-B14F-4D97-AF65-F5344CB8AC3E}">
        <p14:creationId xmlns:p14="http://schemas.microsoft.com/office/powerpoint/2010/main" val="1221627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6554C-35E4-40FA-9875-AC19D84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05 · 定位与 TF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EA564-AF13-40F3-A4FD-323D3C9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定位模式只改变 map→odom 的来源，Nav2 下游保持不变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F54AF-D8FC-4AAA-AE27-DC72F893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B9DFA-E94F-40B6-8982-9F00EC6C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4320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413B-8861-4B5B-A422-EF0936BB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7200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1E415-3F9A-4FF4-889E-609DDF2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34D52-DD84-41E8-AF4E-47F9BCD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ground_truth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D2EFC-F74C-46B7-8233-F890056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365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static_transform_publisher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发布 identity map → odom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用于仿真地图/规划/控制验证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8E91B-B793-41F4-94D2-159AEE2B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AMCL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57061-ABAD-44B6-BD60-BB5B6A98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24300"/>
            <a:ext cx="3657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订阅 /map + /scan + /odom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接收 /initialpose，发布 /amcl_pose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并广播 map → odom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5ACFD-084F-43CF-A4AF-0853DCC4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统一 TF 结果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 → odom → base_link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FDC62-3C29-4AD0-A92F-E5DD2F4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4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AMCL 自动初始化器只在 fixed / odom_identity 模式短暂存在：等待静止 → 发 3 次 /initialpose → 验证 /amcl_pose → 退出。</a:t>
            </a:r>
          </a:p>
        </p:txBody>
      </p:sp>
    </p:spTree>
    <p:extLst>
      <p:ext uri="{BB962C8B-B14F-4D97-AF65-F5344CB8AC3E}">
        <p14:creationId xmlns:p14="http://schemas.microsoft.com/office/powerpoint/2010/main" val="1697409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99A80-F727-4A51-AA28-364B614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06 · 导航闭环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12E54-F215-4528-8460-10829BDE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Nav2 用 Action 接收目标，用 Topic 闭环控制底盘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C88DC-3D4B-480E-A3B1-3EE8C16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49B85-6616-4332-A943-65751591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956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3B944-490A-43E2-9289-3EE31E13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009AA-7D48-40C3-B8D7-B26C836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AE384-7E3A-4F99-80D5-2861AD5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3FF25-7897-42F9-8AED-057D9AD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RViz / Explorer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目标客户端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2A0CB-B9C2-43D0-B72A-A9C6ACD4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1935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bt_navigator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NavigateToPose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B5161-5133-4517-8196-1073DC2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planner_server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全局路径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B252F-41AB-4693-9755-F5E65DA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controller_server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局部跟踪与避障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6FBF4-BCEF-46BC-9FDF-F3524D7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velocity smoother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限速 / 加速度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91AA3-B21D-4284-BA76-D3284BA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4A27F-BD92-43C7-8E64-7613493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5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/cmd_vel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8B21A-36D8-4172-8436-CC42631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/map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静态层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A4C18-CBDC-4004-A01B-23DBB67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/scan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障碍层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03338-3E86-4363-A31B-B01A6F9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/odom + TF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状态与坐标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BF2B6-5477-4A30-8466-10E097E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行为服务器提供 /spin、/backup、/wait；探索节点不直接发布 /cmd_vel，因此复用同一套避障、恢复和速度限制。</a:t>
            </a:r>
          </a:p>
        </p:txBody>
      </p:sp>
    </p:spTree>
    <p:extLst>
      <p:ext uri="{BB962C8B-B14F-4D97-AF65-F5344CB8AC3E}">
        <p14:creationId xmlns:p14="http://schemas.microsoft.com/office/powerpoint/2010/main" val="54744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038A-CDF2-4DDE-8937-25ADE4C4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07 · 坐标系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06032-D6FD-4455-8F1F-ED3C8D8D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TF 树是点云、地图、定位与控制共享的坐标契约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61B7A-27B1-4D49-8BD7-875A91A5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1B28-1DB4-43B5-954A-2C38409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289D5-12BB-4091-80C9-6C8AB6F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035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52B84-1123-461D-83EA-575DE59F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4D068-9B70-4225-AB9A-BE4E7A31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43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E1E40-FEE6-4116-8F86-26E266F8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219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odom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E56D7-6C4E-4B1C-955A-0D4B4FC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219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base_link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C5EA3-4EA6-46CA-80A0-9EDE5F93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2209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front_3d_lidar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22EFB-A83E-45C8-9579-7D449FE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5CF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8B5CF6"/>
                </a:solidFill>
                <a:latin typeface="Noto Sans CJK SC"/>
                <a:ea typeface="Noto Sans CJK SC"/>
                <a:cs typeface="Noto Sans CJK SC"/>
              </a:rPr>
              <a:t>AMCL 或 ground_truth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95418-9CCC-425C-9658-0F59921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9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B981"/>
                </a:solidFill>
                <a:latin typeface="Noto Sans CJK SC"/>
                <a:ea typeface="Noto Sans CJK SC"/>
                <a:cs typeface="Noto Sans CJK SC"/>
              </a:rPr>
              <a:t>Isaac / 底盘里程计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F87DD-C77C-435F-8938-B5D04C3A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静态外参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B49B9-6550-45D9-9E36-9CC0CA9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nvblox: global_frame=odom</a:t>
            </a:r>
          </a:p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pose_frame=front_3d_lidar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2DBAE-8411-40CB-917A-7E8704CA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3870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local costmap: odom</a:t>
            </a:r>
          </a:p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global costmap: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1B265-825D-4609-B251-34FB4CF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3124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健康检查最终验证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map → base_link</a:t>
            </a:r>
          </a:p>
        </p:txBody>
      </p:sp>
    </p:spTree>
    <p:extLst>
      <p:ext uri="{BB962C8B-B14F-4D97-AF65-F5344CB8AC3E}">
        <p14:creationId xmlns:p14="http://schemas.microsoft.com/office/powerpoint/2010/main" val="1324717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D683A-B02D-4F34-8BF4-3216F93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08 · Interface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4282E-1883-4B66-9F8C-9348839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感知与地图 Topic 的发布者、订阅者和 QoS 都是运行合同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A5252-5CE4-41C4-B7EC-CA557C3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19100" y="1600200"/>
          <a:ext xmlns:a="http://schemas.openxmlformats.org/drawingml/2006/main" cx="11353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286000"/>
                <a:gridCol w="1809750"/>
                <a:gridCol w="2686050"/>
                <a:gridCol w="2095500"/>
              </a:tblGrid>
              <a:tr h="58782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接口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类型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主要发布者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主要订阅者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QoS / 备注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/clock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rosgraph_msgs/Clock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Isaac Sim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 use_sim_time 节点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Best Effort · Volatile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/front_3d_lidar/lidar_points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sensor_msgs/PointCloud2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Isaac Sim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padder；scan converter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仿真源点云</a:t>
                      </a:r>
                    </a:p>
                  </a:txBody>
                  <a:tcPr marL="76200" marR="76200" marT="47625" marB="47625" anchor="ctr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/front_3d_lidar/lidar_points_nvblox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sensor_msgs/PointCloud2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pointcloud_padder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nvblox_node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1800 × 31；NaN 补齐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/scan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sensor_msgs/LaserScan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pointcloud_to_laserscan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AMCL；global/local costmap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Best Effort · Volatile</a:t>
                      </a:r>
                    </a:p>
                  </a:txBody>
                  <a:tcPr marL="76200" marR="76200" marT="47625" marB="47625" anchor="ctr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/nvblox_node/static_occupancy_grid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nav_msgs/OccupancyGrid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nvblox_node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RViz；Frontier Explorer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Reliable · Volatile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/map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nav_msgs/OccupancyGrid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map_server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AMCL；Nav2 static layer；RViz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Reliable · Transient Local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C8E68-A46B-4D5D-B7A2-8814AA52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保存地图导航消费 /map；实时探索消费 /nvblox_node/static_occupancy_grid。两者不要混为同一个生命周期。</a:t>
            </a:r>
          </a:p>
        </p:txBody>
      </p:sp>
    </p:spTree>
    <p:extLst>
      <p:ext uri="{BB962C8B-B14F-4D97-AF65-F5344CB8AC3E}">
        <p14:creationId xmlns:p14="http://schemas.microsoft.com/office/powerpoint/2010/main" val="1865079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386BB-1D54-488C-A545-80F00CC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09 · Interface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8D20-B198-4CF1-9AF8-B768DE5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定位、控制和探索接口共同完成目标闭环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BE03-1AC8-43D8-B61E-39B01D1A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19100" y="1543050"/>
          <a:ext xmlns:a="http://schemas.openxmlformats.org/drawingml/2006/main" cx="113538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95500"/>
                <a:gridCol w="2247900"/>
                <a:gridCol w="2286000"/>
                <a:gridCol w="2057400"/>
              </a:tblGrid>
              <a:tr h="5405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接口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种类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生产端 / Server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消费端 / Client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关键语义</a:t>
                      </a:r>
                    </a:p>
                  </a:txBody>
                  <a:tcPr marL="76200" marR="76200" marT="57150" marB="57150">
                    <a:solidFill>
                      <a:srgbClr val="111827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/chassis/odom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 · Odometry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Isaac Sim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relay；AMCL initializer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原始仿真里程计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/odom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 · Odometry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topic_tools relay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Nav2 / velocity_smoother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Nav2 统一里程计入口</a:t>
                      </a:r>
                    </a:p>
                  </a:txBody>
                  <a:tcPr marL="76200" marR="76200" marT="47625" marB="47625" anchor="ctr"/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/initialpose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 · PoseWithCovariance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RViz 或 initializer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AMCL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manual / fixed / odom_identity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/amcl_pose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 · PoseWithCovariance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AMCL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initializer；监控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初始化确认与定位结果</a:t>
                      </a:r>
                    </a:p>
                  </a:txBody>
                  <a:tcPr marL="76200" marR="76200" marT="47625" marB="47625" anchor="ctr"/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/navigate_to_pose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Action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bt_navigator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RViz；Frontier Explorer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目标、反馈、终态、取消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/cmd_vel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Topic · Twist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velocity_smoother / behavior_server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Isaac 底盘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只允许受控发布者</a:t>
                      </a:r>
                    </a:p>
                  </a:txBody>
                  <a:tcPr marL="76200" marR="76200" marT="47625" marB="47625" anchor="ctr"/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/frontier_explorer/set_enabled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Service · SetBool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Frontier Explorer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运维 / 操作员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显式运动互锁</a:t>
                      </a:r>
                    </a:p>
                  </a:txBody>
                  <a:tcPr marL="76200" marR="76200" marT="47625" marB="4762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C9DB3-0E87-4173-A0C5-A914918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/clicked_point 默认没有移动桥接；在 RViz 中应使用 2D Goal Pose 触发 NavigateToPose。</a:t>
            </a:r>
          </a:p>
        </p:txBody>
      </p:sp>
    </p:spTree>
    <p:extLst>
      <p:ext uri="{BB962C8B-B14F-4D97-AF65-F5344CB8AC3E}">
        <p14:creationId xmlns:p14="http://schemas.microsoft.com/office/powerpoint/2010/main" val="776763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75724-3BDD-4F33-8996-0A8A3FA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10 · 启动与生命周期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AF6EF-2A91-4A35-BE1C-925FFFDE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启动顺序刻意错峰：先保证数据，再加载地图，最后激活 Nav2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7DD99-0FE2-4207-9686-EBEBD34E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216FD-813B-4544-95CE-612F43E8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64317-D9EF-45F9-8DB4-DBF620D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D294D-F0B5-46A5-A9D0-1F66A26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T+0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27E09-1E54-457D-A775-FD3DFA6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Isaac Sim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1BACC-97E0-4884-BA47-4030633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/clock、点云、odom、TF 到位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4B9FE-3438-4605-B048-D18D5F8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D514E-B26E-46E7-A0D3-2E522D6A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B981"/>
                </a:solidFill>
                <a:latin typeface="Noto Sans CJK SC"/>
                <a:ea typeface="Noto Sans CJK SC"/>
                <a:cs typeface="Noto Sans CJK SC"/>
              </a:rPr>
              <a:t>T+5s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B318A-5A7A-4292-B9F1-88C7CB6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nvblox + load_map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8B7A3-F664-4B72-9AAF-DC054833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padder → nvblox；调用 /load_map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2F894-E84D-462B-B89C-DED08C8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86962-722E-4A99-85BC-9C6D5E1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8B5CF6"/>
                </a:solidFill>
                <a:latin typeface="Noto Sans CJK SC"/>
                <a:ea typeface="Noto Sans CJK SC"/>
                <a:cs typeface="Noto Sans CJK SC"/>
              </a:rPr>
              <a:t>T+15s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6BAF0-6B28-4EF5-B325-3CEE1A2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7BDF5-67B7-480D-880C-D0D13806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AMCL 或 map server + 静态 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00CC8-7BEF-48AC-A047-56C8916B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B7C56-A1D5-4554-929B-C742B92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T+40s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05250-2742-46A5-8B2E-A9D269D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71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Nav2 导航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461FA-3C68-492C-A186-5C0D5F5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planner / controller / BT / behaviors 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2945A-D20D-42CA-9C87-0A7BE03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一键脚本在每一段之间等待“真实消息 / lifecycle / action / TF”门禁，而不是只检查进程是否存在。</a:t>
            </a:r>
          </a:p>
        </p:txBody>
      </p:sp>
    </p:spTree>
    <p:extLst>
      <p:ext uri="{BB962C8B-B14F-4D97-AF65-F5344CB8AC3E}">
        <p14:creationId xmlns:p14="http://schemas.microsoft.com/office/powerpoint/2010/main" val="1459670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4FDFA-F800-4D16-812D-F71D59B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11 · 扩展与维护边界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F5987-8648-4876-9455-3483C19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Frontier Explorer 是可选上层策略，不绕过 Nav2 安全闭环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F9D22-6CFA-4A1F-AEC2-70D1E7E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06D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67B7E-86EA-4397-B03A-3813323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AAE76-2A95-4941-ACF3-B60BEDE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C0505-142E-4514-AFE0-33FBA003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895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/static_occupancy_grid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+ map→base_link TF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FDD82-D30E-40C1-A8B9-F4DD123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34290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Frontier Explorer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选安全候选点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发布 markers /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FB4C1-5C05-452B-9B71-09D3839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895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/navigate_to_pose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交给 Nav2 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68596-A468-40D6-BC35-1188EB08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默认 disabled；通过 /frontier_explorer/set_enabled 显式启用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699A9-9C20-45D1-A729-5806B3C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检测 /cmd_vel 上的意外发布者；地图陈旧、TF 丢失、Nav2 未就绪时不发目标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A5DCD-5A3B-47FE-A805-45A91ADE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真机迁移时保留接口边界，替换传感器、里程计与外参，并重新验收 footprint、速度、制动距离和急停。</a:t>
            </a:r>
          </a:p>
        </p:txBody>
      </p:sp>
    </p:spTree>
    <p:extLst>
      <p:ext uri="{BB962C8B-B14F-4D97-AF65-F5344CB8AC3E}">
        <p14:creationId xmlns:p14="http://schemas.microsoft.com/office/powerpoint/2010/main" val="1858370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2026-08-29T08:42:55.6290000Z</dcterms:created>
  <dcterms:modified xsi:type="dcterms:W3CDTF">2026-08-29T08:42:55.6290000Z</dcterms:modified>
</coreProperties>
</file>